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1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2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24-09-2026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CampusResolve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-AI: A Multilingual Explainable Complaint Intelligence System with Duplicate Detection, Priority Forecasting, and Resolution-Time Prediction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PREMKUMAR S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251011012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T9964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0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Campus complaints are often handled manually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Delayed routing affects resolution quality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Duplicate reports increase staff workload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Multilingual complaints are harder to analyse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AI can support faster staff decisions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15836-58B5-18F2-0B19-3A28614B6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pic>
        <p:nvPicPr>
          <p:cNvPr id="8" name="Picture 7" descr="A flat vector illustration on a light blue background featuring the bold text &quot;CAMPUS FACILITIES&quot; surrounded by various icons representing university campus infrastructure, including a microscope, bicycle, gears, buildings, computer equipment, a checklist, puzzle piece, funnel, group of people, graduation cap, and other symbols for maintenance, water, wifi, and education.">
            <a:extLst>
              <a:ext uri="{FF2B5EF4-FFF2-40B4-BE49-F238E27FC236}">
                <a16:creationId xmlns:a16="http://schemas.microsoft.com/office/drawing/2014/main" id="{8CA3CBC8-990B-FF32-F087-A263A220B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1600200"/>
            <a:ext cx="3995057" cy="326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Support multilingual complaint submission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Predict category and department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Forecast complaint priority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Estimate resolution time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Identify duplicate complaints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Improve transparency and tracking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4C3B4-AB32-D061-5E17-7053C09AF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351849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Complaint submission and tracking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AI recommendation engine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Duplicate detection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Complaint workflow management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Role-based access and audit logs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Impact verification</a:t>
            </a: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457200" lvl="1" indent="0">
              <a:buNone/>
            </a:pP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Core Module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C2CA8-71A8-876F-901A-F96F2C4E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A23D4C-2010-EBB5-0A49-EE02D1683035}"/>
              </a:ext>
            </a:extLst>
          </p:cNvPr>
          <p:cNvSpPr/>
          <p:nvPr/>
        </p:nvSpPr>
        <p:spPr>
          <a:xfrm>
            <a:off x="8871859" y="3933753"/>
            <a:ext cx="2008475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Predictions and Similarity Check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C4EB68-3383-A444-BF24-EE8F976C47CE}"/>
              </a:ext>
            </a:extLst>
          </p:cNvPr>
          <p:cNvSpPr/>
          <p:nvPr/>
        </p:nvSpPr>
        <p:spPr>
          <a:xfrm>
            <a:off x="8871857" y="1443792"/>
            <a:ext cx="2008477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Multilingual AI Analysis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DFF38A-329C-1B92-6B9E-46228CE93E1D}"/>
              </a:ext>
            </a:extLst>
          </p:cNvPr>
          <p:cNvSpPr/>
          <p:nvPr/>
        </p:nvSpPr>
        <p:spPr>
          <a:xfrm>
            <a:off x="5089654" y="1443792"/>
            <a:ext cx="2008473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Text Preprocessing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EC5B1D-9C02-4BD4-1825-18C835C96680}"/>
              </a:ext>
            </a:extLst>
          </p:cNvPr>
          <p:cNvSpPr/>
          <p:nvPr/>
        </p:nvSpPr>
        <p:spPr>
          <a:xfrm>
            <a:off x="1307447" y="1443792"/>
            <a:ext cx="2008477" cy="71845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Complaint Input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C159FCD-4D31-0554-6FCD-A223BF96818A}"/>
              </a:ext>
            </a:extLst>
          </p:cNvPr>
          <p:cNvSpPr/>
          <p:nvPr/>
        </p:nvSpPr>
        <p:spPr>
          <a:xfrm>
            <a:off x="1307448" y="3926877"/>
            <a:ext cx="2008476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Database and Audit Trail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C519EC5-97E8-BA8F-355E-5D1A41366FE5}"/>
              </a:ext>
            </a:extLst>
          </p:cNvPr>
          <p:cNvSpPr/>
          <p:nvPr/>
        </p:nvSpPr>
        <p:spPr>
          <a:xfrm>
            <a:off x="5089654" y="3926877"/>
            <a:ext cx="2008475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Staff Review and Action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6AE15A-427A-C8B0-8CD3-FB94D1DDEE70}"/>
              </a:ext>
            </a:extLst>
          </p:cNvPr>
          <p:cNvCxnSpPr/>
          <p:nvPr/>
        </p:nvCxnSpPr>
        <p:spPr>
          <a:xfrm>
            <a:off x="3581400" y="1803019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F0A2A4-4D81-0A47-A656-F7A9294AD5B7}"/>
              </a:ext>
            </a:extLst>
          </p:cNvPr>
          <p:cNvCxnSpPr/>
          <p:nvPr/>
        </p:nvCxnSpPr>
        <p:spPr>
          <a:xfrm>
            <a:off x="7391400" y="1803019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FAE600-15F9-5631-FF0E-89C1E32D7EE8}"/>
              </a:ext>
            </a:extLst>
          </p:cNvPr>
          <p:cNvCxnSpPr>
            <a:cxnSpLocks/>
          </p:cNvCxnSpPr>
          <p:nvPr/>
        </p:nvCxnSpPr>
        <p:spPr>
          <a:xfrm>
            <a:off x="9876095" y="2353863"/>
            <a:ext cx="0" cy="1388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E46FEC-0583-2AEB-5342-D31231540BEF}"/>
              </a:ext>
            </a:extLst>
          </p:cNvPr>
          <p:cNvCxnSpPr>
            <a:cxnSpLocks/>
          </p:cNvCxnSpPr>
          <p:nvPr/>
        </p:nvCxnSpPr>
        <p:spPr>
          <a:xfrm flipH="1">
            <a:off x="7527073" y="4286104"/>
            <a:ext cx="10450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9957B2-608C-7E3F-6ABC-C60FF2BDBF0E}"/>
              </a:ext>
            </a:extLst>
          </p:cNvPr>
          <p:cNvCxnSpPr>
            <a:cxnSpLocks/>
          </p:cNvCxnSpPr>
          <p:nvPr/>
        </p:nvCxnSpPr>
        <p:spPr>
          <a:xfrm flipH="1">
            <a:off x="3668486" y="4292980"/>
            <a:ext cx="10450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inus Sign 29">
            <a:extLst>
              <a:ext uri="{FF2B5EF4-FFF2-40B4-BE49-F238E27FC236}">
                <a16:creationId xmlns:a16="http://schemas.microsoft.com/office/drawing/2014/main" id="{4AC03206-951E-087B-B1E9-04507622F6C1}"/>
              </a:ext>
            </a:extLst>
          </p:cNvPr>
          <p:cNvSpPr/>
          <p:nvPr/>
        </p:nvSpPr>
        <p:spPr>
          <a:xfrm>
            <a:off x="1048361" y="5316241"/>
            <a:ext cx="10091057" cy="1074678"/>
          </a:xfrm>
          <a:prstGeom prst="mathMinu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recommends; authorized staff make final decisions.</a:t>
            </a:r>
            <a:endParaRPr lang="en-IN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9B6F60F-2D7F-2DB2-1541-C204BE311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Complaint text and language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Location and affected population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Safety and repeat-report indicators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Text cleaning and normalization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Categorical and numeric validation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• Category and priority analysis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B57E3-A5BD-EF87-D219-1C3012DE2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F4A875DE-98CD-BA4B-F6C9-49C3EC00D87A}"/>
              </a:ext>
            </a:extLst>
          </p:cNvPr>
          <p:cNvSpPr/>
          <p:nvPr/>
        </p:nvSpPr>
        <p:spPr>
          <a:xfrm>
            <a:off x="462765" y="2035628"/>
            <a:ext cx="5105400" cy="3254823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Multilingual text embeddings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Category prediction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Department routing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Priority forecasting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Resolution-time estimation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Semantic duplicate detection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9BA6F-509D-65CF-46B6-BEC776844648}"/>
              </a:ext>
            </a:extLst>
          </p:cNvPr>
          <p:cNvSpPr txBox="1"/>
          <p:nvPr/>
        </p:nvSpPr>
        <p:spPr>
          <a:xfrm>
            <a:off x="812566" y="1469527"/>
            <a:ext cx="22789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AI Approach:</a:t>
            </a: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8AD39A90-45A4-9A37-7D82-C7E4DEC2677D}"/>
              </a:ext>
            </a:extLst>
          </p:cNvPr>
          <p:cNvSpPr/>
          <p:nvPr/>
        </p:nvSpPr>
        <p:spPr>
          <a:xfrm>
            <a:off x="6623837" y="2035628"/>
            <a:ext cx="5105400" cy="3254823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• Python and 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FastAPI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Streamlit</a:t>
            </a: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 dashboard</a:t>
            </a:r>
          </a:p>
          <a:p>
            <a:pPr algn="just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• SQLite and 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SQLAlchemy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• JWT authentication</a:t>
            </a:r>
          </a:p>
          <a:p>
            <a:pPr algn="just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• Scikit-learn and NLP</a:t>
            </a:r>
          </a:p>
          <a:p>
            <a:pPr algn="just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en-GB" sz="2800" dirty="0" err="1">
                <a:solidFill>
                  <a:schemeClr val="accent1">
                    <a:lumMod val="75000"/>
                  </a:schemeClr>
                </a:solidFill>
              </a:rPr>
              <a:t>Pytest</a:t>
            </a: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, Git, GitHub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23CE81-2B5F-FD31-429E-01DDC1EBF5F1}"/>
              </a:ext>
            </a:extLst>
          </p:cNvPr>
          <p:cNvSpPr txBox="1"/>
          <p:nvPr/>
        </p:nvSpPr>
        <p:spPr>
          <a:xfrm>
            <a:off x="7039195" y="1469527"/>
            <a:ext cx="22789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Tools: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29754E-B853-552E-1A37-066C6243D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 Mile stones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6B4634-B0A4-4CDC-8FAB-CC8C4CC2E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120497"/>
              </p:ext>
            </p:extLst>
          </p:nvPr>
        </p:nvGraphicFramePr>
        <p:xfrm>
          <a:off x="522515" y="1654640"/>
          <a:ext cx="10624338" cy="4011605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3541446">
                  <a:extLst>
                    <a:ext uri="{9D8B030D-6E8A-4147-A177-3AD203B41FA5}">
                      <a16:colId xmlns:a16="http://schemas.microsoft.com/office/drawing/2014/main" val="3191475399"/>
                    </a:ext>
                  </a:extLst>
                </a:gridCol>
                <a:gridCol w="3541446">
                  <a:extLst>
                    <a:ext uri="{9D8B030D-6E8A-4147-A177-3AD203B41FA5}">
                      <a16:colId xmlns:a16="http://schemas.microsoft.com/office/drawing/2014/main" val="1935436167"/>
                    </a:ext>
                  </a:extLst>
                </a:gridCol>
                <a:gridCol w="3541446">
                  <a:extLst>
                    <a:ext uri="{9D8B030D-6E8A-4147-A177-3AD203B41FA5}">
                      <a16:colId xmlns:a16="http://schemas.microsoft.com/office/drawing/2014/main" val="1600100617"/>
                    </a:ext>
                  </a:extLst>
                </a:gridCol>
              </a:tblGrid>
              <a:tr h="80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Completed</a:t>
                      </a:r>
                      <a:endParaRPr lang="en-IN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In Progress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Planned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176166"/>
                  </a:ext>
                </a:extLst>
              </a:tr>
              <a:tr h="80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Core AI workflow</a:t>
                      </a:r>
                      <a:endParaRPr lang="en-IN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Dashboard authentication</a:t>
                      </a:r>
                      <a:endParaRPr lang="en-IN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Incident intelligence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1508006"/>
                  </a:ext>
                </a:extLst>
              </a:tr>
              <a:tr h="80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Backend APIs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Staff verification UI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Comparative evaluation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994533"/>
                  </a:ext>
                </a:extLst>
              </a:tr>
              <a:tr h="80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Database design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Timeline improvements</a:t>
                      </a:r>
                      <a:endParaRPr lang="en-IN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Final report and demo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586977"/>
                  </a:ext>
                </a:extLst>
              </a:tr>
              <a:tr h="80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Role-based access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UI polish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Deployment</a:t>
                      </a:r>
                      <a:endParaRPr lang="en-IN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366410"/>
                  </a:ext>
                </a:extLst>
              </a:tr>
            </a:tbl>
          </a:graphicData>
        </a:graphic>
      </p:graphicFrame>
      <p:sp>
        <p:nvSpPr>
          <p:cNvPr id="8" name="Minus Sign 7">
            <a:extLst>
              <a:ext uri="{FF2B5EF4-FFF2-40B4-BE49-F238E27FC236}">
                <a16:creationId xmlns:a16="http://schemas.microsoft.com/office/drawing/2014/main" id="{1751844C-3F27-F970-BF4F-B1477E0CE240}"/>
              </a:ext>
            </a:extLst>
          </p:cNvPr>
          <p:cNvSpPr/>
          <p:nvPr/>
        </p:nvSpPr>
        <p:spPr>
          <a:xfrm>
            <a:off x="1045147" y="5479527"/>
            <a:ext cx="10091057" cy="1074678"/>
          </a:xfrm>
          <a:prstGeom prst="mathMinu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Current validation: Automated regression suite — 88 tests passed.</a:t>
            </a:r>
            <a:endParaRPr lang="en-IN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CD62DB-C8ED-FB89-6AEB-118F577E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">
            <a:extLst>
              <a:ext uri="{FF2B5EF4-FFF2-40B4-BE49-F238E27FC236}">
                <a16:creationId xmlns:a16="http://schemas.microsoft.com/office/drawing/2014/main" id="{7E89B4EF-4306-4F25-4584-3CF6BEF4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1" y="1148876"/>
            <a:ext cx="9916886" cy="5314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C4CF98-D184-9A32-35E0-BFEA79DE0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303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Premkumar Sivasankar</cp:lastModifiedBy>
  <cp:revision>15</cp:revision>
  <dcterms:created xsi:type="dcterms:W3CDTF">2024-05-13T10:33:11Z</dcterms:created>
  <dcterms:modified xsi:type="dcterms:W3CDTF">2026-10-01T04:44:11Z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