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B13374-F744-477E-85E9-796ED5F89C68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C283EA-4069-44DB-86EF-4B9397EC8A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074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First Review, 11-09-2026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CampusResolve</a:t>
            </a: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-AI: A Multilingual Explainable Complaint Intelligence System with Duplicate Detection, Priority Forecasting, and Resolution-Time Prediction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PREMKUMAR S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251011012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T9964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8B9BE-EE05-FF03-5680-B8B3F5D90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94" y="5871177"/>
            <a:ext cx="2931892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Campus complaints are commonly handled through manual and fragmented channels. Incorrect routing and delayed prioritization can slow down issue resolution.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Students often lack transparency after submitting a complaint. Complaints may be written in English, Tamil, or Tamil-English (</a:t>
            </a:r>
            <a:r>
              <a:rPr lang="en-GB" b="0" dirty="0" err="1">
                <a:solidFill>
                  <a:srgbClr val="5583D1"/>
                </a:solidFill>
                <a:latin typeface="+mn-lt"/>
              </a:rPr>
              <a:t>Tanglish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>).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</a:t>
            </a:r>
            <a:r>
              <a:rPr lang="en-GB" b="0" dirty="0" err="1">
                <a:solidFill>
                  <a:srgbClr val="5583D1"/>
                </a:solidFill>
                <a:latin typeface="+mn-lt"/>
              </a:rPr>
              <a:t>CampusResolve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>-AI provides AI-assisted routing, tracking, and staff workflow support.</a:t>
            </a: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Introduction: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Build a multilingual complaint management platform for campus operations. Recommend complaint category and responsible department using NLP.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Predict complaint priority and estimated resolution time. Identify potentially duplicate complaints through semantic similarity.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Provide explainable AI recommendations for staff review. Enable complaint tracking and controlled staff status updates.</a:t>
            </a: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Objective: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Complaint submission in English, Tamil, and </a:t>
            </a:r>
            <a:r>
              <a:rPr lang="en-GB" b="0" dirty="0" err="1">
                <a:solidFill>
                  <a:srgbClr val="5583D1"/>
                </a:solidFill>
                <a:latin typeface="+mn-lt"/>
              </a:rPr>
              <a:t>Tanglish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AI-assisted category, department, priority, duplicate, and time recommendations. Complaint-reference generation and student status tracking.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Staff dashboard for complaint review, filtering, and updates. </a:t>
            </a:r>
            <a:r>
              <a:rPr lang="en-GB" b="0" dirty="0" err="1">
                <a:solidFill>
                  <a:srgbClr val="5583D1"/>
                </a:solidFill>
                <a:latin typeface="+mn-lt"/>
              </a:rPr>
              <a:t>FastAPI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> backend, </a:t>
            </a:r>
            <a:r>
              <a:rPr lang="en-GB" b="0" dirty="0" err="1">
                <a:solidFill>
                  <a:srgbClr val="5583D1"/>
                </a:solidFill>
                <a:latin typeface="+mn-lt"/>
              </a:rPr>
              <a:t>Streamlit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> frontend, SQLite database, and Docker-ready setup.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Academic prototype using synthetic complaint data.</a:t>
            </a: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Scope: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Review: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15E4DB-387F-AAA9-4EA4-ADBB17B69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000563"/>
              </p:ext>
            </p:extLst>
          </p:nvPr>
        </p:nvGraphicFramePr>
        <p:xfrm>
          <a:off x="311085" y="1326739"/>
          <a:ext cx="10624338" cy="4339492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788372">
                  <a:extLst>
                    <a:ext uri="{9D8B030D-6E8A-4147-A177-3AD203B41FA5}">
                      <a16:colId xmlns:a16="http://schemas.microsoft.com/office/drawing/2014/main" val="2282058326"/>
                    </a:ext>
                  </a:extLst>
                </a:gridCol>
                <a:gridCol w="3407229">
                  <a:extLst>
                    <a:ext uri="{9D8B030D-6E8A-4147-A177-3AD203B41FA5}">
                      <a16:colId xmlns:a16="http://schemas.microsoft.com/office/drawing/2014/main" val="2866316526"/>
                    </a:ext>
                  </a:extLst>
                </a:gridCol>
                <a:gridCol w="6428737">
                  <a:extLst>
                    <a:ext uri="{9D8B030D-6E8A-4147-A177-3AD203B41FA5}">
                      <a16:colId xmlns:a16="http://schemas.microsoft.com/office/drawing/2014/main" val="3627890634"/>
                    </a:ext>
                  </a:extLst>
                </a:gridCol>
              </a:tblGrid>
              <a:tr h="4348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effectLst/>
                        </a:rPr>
                        <a:t>S. No.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903" marR="43903" marT="43903" marB="4390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effectLst/>
                        </a:rPr>
                        <a:t>Research Area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903" marR="43903" marT="43903" marB="4390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effectLst/>
                        </a:rPr>
                        <a:t>Key Finding / Insight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903" marR="43903" marT="43903" marB="43903" anchor="ctr"/>
                </a:tc>
                <a:extLst>
                  <a:ext uri="{0D108BD9-81ED-4DB2-BD59-A6C34878D82A}">
                    <a16:rowId xmlns:a16="http://schemas.microsoft.com/office/drawing/2014/main" val="11621288"/>
                  </a:ext>
                </a:extLst>
              </a:tr>
              <a:tr h="7830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</a:rPr>
                        <a:t>1</a:t>
                      </a:r>
                      <a:endParaRPr lang="en-IN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903" marR="43903" marT="43903" marB="4390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NLP-based complaint classification</a:t>
                      </a:r>
                      <a:endParaRPr lang="en-IN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903" marR="43903" marT="43903" marB="4390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Complaint text can be automatically classified to support faster routing to the appropriate department.</a:t>
                      </a:r>
                      <a:endParaRPr lang="en-IN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903" marR="43903" marT="43903" marB="43903" anchor="ctr"/>
                </a:tc>
                <a:extLst>
                  <a:ext uri="{0D108BD9-81ED-4DB2-BD59-A6C34878D82A}">
                    <a16:rowId xmlns:a16="http://schemas.microsoft.com/office/drawing/2014/main" val="3654865324"/>
                  </a:ext>
                </a:extLst>
              </a:tr>
              <a:tr h="7830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</a:rPr>
                        <a:t>2</a:t>
                      </a:r>
                      <a:endParaRPr lang="en-IN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903" marR="43903" marT="43903" marB="4390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Multilingual and code-mixed NLP</a:t>
                      </a:r>
                      <a:endParaRPr lang="en-IN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903" marR="43903" marT="43903" marB="4390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Multilingual models help process complaints written in multiple languages and mixed-language text.</a:t>
                      </a:r>
                      <a:endParaRPr lang="en-IN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903" marR="43903" marT="43903" marB="43903" anchor="ctr"/>
                </a:tc>
                <a:extLst>
                  <a:ext uri="{0D108BD9-81ED-4DB2-BD59-A6C34878D82A}">
                    <a16:rowId xmlns:a16="http://schemas.microsoft.com/office/drawing/2014/main" val="3939721294"/>
                  </a:ext>
                </a:extLst>
              </a:tr>
              <a:tr h="7830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</a:rPr>
                        <a:t>3</a:t>
                      </a:r>
                      <a:endParaRPr lang="en-IN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903" marR="43903" marT="43903" marB="4390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Semantic similarity / duplicate detection</a:t>
                      </a:r>
                      <a:endParaRPr lang="en-IN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903" marR="43903" marT="43903" marB="4390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Sentence embeddings can identify semantically similar complaints even when the wording differs.</a:t>
                      </a:r>
                      <a:endParaRPr lang="en-IN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903" marR="43903" marT="43903" marB="43903" anchor="ctr"/>
                </a:tc>
                <a:extLst>
                  <a:ext uri="{0D108BD9-81ED-4DB2-BD59-A6C34878D82A}">
                    <a16:rowId xmlns:a16="http://schemas.microsoft.com/office/drawing/2014/main" val="849260758"/>
                  </a:ext>
                </a:extLst>
              </a:tr>
              <a:tr h="772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</a:rPr>
                        <a:t>4</a:t>
                      </a:r>
                      <a:endParaRPr lang="en-IN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903" marR="43903" marT="43903" marB="4390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</a:rPr>
                        <a:t>Priority prediction</a:t>
                      </a:r>
                      <a:endParaRPr lang="en-IN" sz="2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903" marR="43903" marT="43903" marB="4390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Text and contextual details can support urgency or priority recommendations.</a:t>
                      </a:r>
                      <a:endParaRPr lang="en-IN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903" marR="43903" marT="43903" marB="43903" anchor="ctr"/>
                </a:tc>
                <a:extLst>
                  <a:ext uri="{0D108BD9-81ED-4DB2-BD59-A6C34878D82A}">
                    <a16:rowId xmlns:a16="http://schemas.microsoft.com/office/drawing/2014/main" val="3281022540"/>
                  </a:ext>
                </a:extLst>
              </a:tr>
              <a:tr h="7830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</a:rPr>
                        <a:t>5</a:t>
                      </a:r>
                      <a:endParaRPr lang="en-IN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903" marR="43903" marT="43903" marB="4390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</a:rPr>
                        <a:t>Explainable AI</a:t>
                      </a:r>
                      <a:endParaRPr lang="en-IN" sz="2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903" marR="43903" marT="43903" marB="4390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Explanation outputs improve transparency and help staff review AI recommendations.</a:t>
                      </a:r>
                      <a:endParaRPr lang="en-IN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903" marR="43903" marT="43903" marB="43903" anchor="ctr"/>
                </a:tc>
                <a:extLst>
                  <a:ext uri="{0D108BD9-81ED-4DB2-BD59-A6C34878D82A}">
                    <a16:rowId xmlns:a16="http://schemas.microsoft.com/office/drawing/2014/main" val="2570407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: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348FB5F-05CB-8B09-A72F-EBC0FA1DD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221549"/>
              </p:ext>
            </p:extLst>
          </p:nvPr>
        </p:nvGraphicFramePr>
        <p:xfrm>
          <a:off x="221274" y="1290320"/>
          <a:ext cx="10624338" cy="4551680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2484105">
                  <a:extLst>
                    <a:ext uri="{9D8B030D-6E8A-4147-A177-3AD203B41FA5}">
                      <a16:colId xmlns:a16="http://schemas.microsoft.com/office/drawing/2014/main" val="939892291"/>
                    </a:ext>
                  </a:extLst>
                </a:gridCol>
                <a:gridCol w="4622180">
                  <a:extLst>
                    <a:ext uri="{9D8B030D-6E8A-4147-A177-3AD203B41FA5}">
                      <a16:colId xmlns:a16="http://schemas.microsoft.com/office/drawing/2014/main" val="2801633435"/>
                    </a:ext>
                  </a:extLst>
                </a:gridCol>
                <a:gridCol w="3518053">
                  <a:extLst>
                    <a:ext uri="{9D8B030D-6E8A-4147-A177-3AD203B41FA5}">
                      <a16:colId xmlns:a16="http://schemas.microsoft.com/office/drawing/2014/main" val="1853818780"/>
                    </a:ext>
                  </a:extLst>
                </a:gridCol>
              </a:tblGrid>
              <a:tr h="6134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Capability</a:t>
                      </a:r>
                      <a:endParaRPr lang="en-IN" sz="1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effectLst/>
                        </a:rPr>
                        <a:t>Existing Research / Systems</a:t>
                      </a:r>
                      <a:endParaRPr lang="en-IN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effectLst/>
                        </a:rPr>
                        <a:t>Gap Addressed in </a:t>
                      </a:r>
                      <a:r>
                        <a:rPr lang="en-IN" sz="1800" dirty="0" err="1">
                          <a:effectLst/>
                        </a:rPr>
                        <a:t>CampusResolve</a:t>
                      </a:r>
                      <a:r>
                        <a:rPr lang="en-IN" sz="1800" dirty="0">
                          <a:effectLst/>
                        </a:rPr>
                        <a:t>-AI</a:t>
                      </a:r>
                      <a:endParaRPr lang="en-IN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311245409"/>
                  </a:ext>
                </a:extLst>
              </a:tr>
              <a:tr h="6134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effectLst/>
                        </a:rPr>
                        <a:t>Complaint classification</a:t>
                      </a:r>
                      <a:endParaRPr lang="en-IN" sz="1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effectLst/>
                        </a:rPr>
                        <a:t>Automated classification is widely studied</a:t>
                      </a:r>
                      <a:endParaRPr lang="en-IN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effectLst/>
                        </a:rPr>
                        <a:t>Integrates classification with department routing</a:t>
                      </a:r>
                      <a:endParaRPr lang="en-IN" sz="1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446874217"/>
                  </a:ext>
                </a:extLst>
              </a:tr>
              <a:tr h="6134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effectLst/>
                        </a:rPr>
                        <a:t>Multilingual support</a:t>
                      </a:r>
                      <a:endParaRPr lang="en-IN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effectLst/>
                        </a:rPr>
                        <a:t>Often supports one or a limited set of languages</a:t>
                      </a:r>
                      <a:endParaRPr lang="en-IN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effectLst/>
                        </a:rPr>
                        <a:t>Supports English, Tamil, and </a:t>
                      </a:r>
                      <a:r>
                        <a:rPr lang="en-IN" sz="1800" dirty="0" err="1">
                          <a:effectLst/>
                        </a:rPr>
                        <a:t>Tanglish</a:t>
                      </a:r>
                      <a:r>
                        <a:rPr lang="en-IN" sz="1800" dirty="0">
                          <a:effectLst/>
                        </a:rPr>
                        <a:t> input</a:t>
                      </a:r>
                      <a:endParaRPr lang="en-IN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180737898"/>
                  </a:ext>
                </a:extLst>
              </a:tr>
              <a:tr h="6134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effectLst/>
                        </a:rPr>
                        <a:t>Duplicate detection</a:t>
                      </a:r>
                      <a:endParaRPr lang="en-IN" sz="1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effectLst/>
                        </a:rPr>
                        <a:t>Similarity methods are available in isolation</a:t>
                      </a:r>
                      <a:endParaRPr lang="en-IN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effectLst/>
                        </a:rPr>
                        <a:t>Flags possible duplicates within the complaint workflow</a:t>
                      </a:r>
                      <a:endParaRPr lang="en-IN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987341219"/>
                  </a:ext>
                </a:extLst>
              </a:tr>
              <a:tr h="6134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effectLst/>
                        </a:rPr>
                        <a:t>Priority assessment</a:t>
                      </a:r>
                      <a:endParaRPr lang="en-IN" sz="1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effectLst/>
                        </a:rPr>
                        <a:t>Urgency prediction is studied separately</a:t>
                      </a:r>
                      <a:endParaRPr lang="en-IN" sz="1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effectLst/>
                        </a:rPr>
                        <a:t>Combines priority recommendation with complaint context</a:t>
                      </a:r>
                      <a:endParaRPr lang="en-IN" sz="1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522270085"/>
                  </a:ext>
                </a:extLst>
              </a:tr>
              <a:tr h="6134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effectLst/>
                        </a:rPr>
                        <a:t>Explainability</a:t>
                      </a:r>
                      <a:endParaRPr lang="en-IN" sz="1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effectLst/>
                        </a:rPr>
                        <a:t>Present in selected AI applications</a:t>
                      </a:r>
                      <a:endParaRPr lang="en-IN" sz="1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effectLst/>
                        </a:rPr>
                        <a:t>Shows understandable recommendation guidance for staff</a:t>
                      </a:r>
                      <a:endParaRPr lang="en-IN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917376685"/>
                  </a:ext>
                </a:extLst>
              </a:tr>
              <a:tr h="6134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effectLst/>
                        </a:rPr>
                        <a:t>End-to-end workflow</a:t>
                      </a:r>
                      <a:endParaRPr lang="en-IN" sz="1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effectLst/>
                        </a:rPr>
                        <a:t>Many solutions focus on a single component</a:t>
                      </a:r>
                      <a:endParaRPr lang="en-IN" sz="1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effectLst/>
                        </a:rPr>
                        <a:t>Combines intake, AI, tracking, and staff updates in one platform</a:t>
                      </a:r>
                      <a:endParaRPr lang="en-IN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916585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5583D1"/>
                </a:solidFill>
                <a:latin typeface="+mn-lt"/>
              </a:rPr>
              <a:t>Student flow: Submit complaint → Receive AI recommendation → Get reference ID → Track status</a:t>
            </a: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5583D1"/>
                </a:solidFill>
                <a:latin typeface="+mn-lt"/>
              </a:rPr>
              <a:t>Staff flow: Review queue → Verify AI recommendation → Update status and notes → Resolve issue</a:t>
            </a: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5583D1"/>
                </a:solidFill>
                <a:latin typeface="+mn-lt"/>
              </a:rPr>
              <a:t>AI outputs: Category · Department · Priority · Resolution-Time Estimate · Duplicate Flag · Explanation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: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Module 1 — Complaint Intake and Multilingual Preprocessing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Module 2 — Category and Department Recommendation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Module 3 — Priority Prediction and Resolution-Time Estimation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Module 4 — Semantic Duplicate Detection and Explainability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Module 5 — Complaint Tracking and Staff Operations Dashboard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Module 6 — API, Database, Testing, and Deployment Support</a:t>
            </a: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: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395025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 err="1">
                <a:solidFill>
                  <a:schemeClr val="accent5"/>
                </a:solidFill>
              </a:rPr>
              <a:t>CampusResolve</a:t>
            </a:r>
            <a:r>
              <a:rPr lang="en-IN" dirty="0">
                <a:solidFill>
                  <a:schemeClr val="accent5"/>
                </a:solidFill>
              </a:rPr>
              <a:t>-AI 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accent5"/>
                </a:solidFill>
              </a:rPr>
              <a:t>Explainable multilingual AI-assisted complaint management</a:t>
            </a:r>
          </a:p>
          <a:p>
            <a:pPr marL="0" indent="0" algn="ctr">
              <a:buNone/>
            </a:pPr>
            <a:endParaRPr lang="en-IN" dirty="0">
              <a:solidFill>
                <a:schemeClr val="accent5"/>
              </a:solidFill>
            </a:endParaRPr>
          </a:p>
          <a:p>
            <a:pPr marL="0" indent="0" algn="ctr">
              <a:buNone/>
            </a:pPr>
            <a:endParaRPr lang="en-IN" dirty="0">
              <a:solidFill>
                <a:schemeClr val="accent5"/>
              </a:solidFill>
            </a:endParaRPr>
          </a:p>
          <a:p>
            <a:pPr marL="0" indent="0" algn="ctr">
              <a:buNone/>
            </a:pPr>
            <a:endParaRPr lang="en-IN" dirty="0">
              <a:solidFill>
                <a:schemeClr val="accent5"/>
              </a:solidFill>
            </a:endParaRPr>
          </a:p>
          <a:p>
            <a:pPr marL="0" indent="0" algn="ctr">
              <a:buNone/>
            </a:pPr>
            <a:endParaRPr lang="en-IN" dirty="0">
              <a:solidFill>
                <a:schemeClr val="accent5"/>
              </a:solidFill>
            </a:endParaRPr>
          </a:p>
          <a:p>
            <a:pPr marL="0" indent="0" algn="ctr">
              <a:buNone/>
            </a:pPr>
            <a:endParaRPr lang="en-IN" dirty="0">
              <a:solidFill>
                <a:schemeClr val="accent5"/>
              </a:solidFill>
            </a:endParaRPr>
          </a:p>
          <a:p>
            <a:pPr marL="0" indent="0" algn="ctr">
              <a:buNone/>
            </a:pPr>
            <a:endParaRPr lang="en-IN" dirty="0">
              <a:solidFill>
                <a:schemeClr val="accent5"/>
              </a:solidFill>
            </a:endParaRPr>
          </a:p>
          <a:p>
            <a:pPr marL="0" indent="0" algn="ctr">
              <a:buNone/>
            </a:pPr>
            <a:r>
              <a:rPr lang="en-IN" dirty="0">
                <a:solidFill>
                  <a:schemeClr val="accent5"/>
                </a:solidFill>
              </a:rPr>
              <a:t>Thank You 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accent5"/>
                </a:solidFill>
              </a:rPr>
              <a:t>Questions and Discussion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Conclusion and Next Steps: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47C61E-06B2-B3AB-E824-4D0420F2EE01}"/>
              </a:ext>
            </a:extLst>
          </p:cNvPr>
          <p:cNvSpPr/>
          <p:nvPr/>
        </p:nvSpPr>
        <p:spPr>
          <a:xfrm>
            <a:off x="1632856" y="2525485"/>
            <a:ext cx="3984172" cy="256902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chemeClr val="accent5"/>
                </a:solidFill>
              </a:rPr>
              <a:t>Key value: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5"/>
                </a:solidFill>
              </a:rPr>
              <a:t>Multilingual input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5"/>
                </a:solidFill>
              </a:rPr>
              <a:t>Smart routing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5"/>
                </a:solidFill>
              </a:rPr>
              <a:t>Duplicate awareness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5"/>
                </a:solidFill>
              </a:rPr>
              <a:t>Transparent tracking</a:t>
            </a:r>
            <a:endParaRPr lang="en-IN" sz="2800" dirty="0">
              <a:solidFill>
                <a:schemeClr val="accent5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E4B58F-86B4-43D5-99F2-964FD62C15FE}"/>
              </a:ext>
            </a:extLst>
          </p:cNvPr>
          <p:cNvSpPr/>
          <p:nvPr/>
        </p:nvSpPr>
        <p:spPr>
          <a:xfrm>
            <a:off x="6256595" y="2525485"/>
            <a:ext cx="3984172" cy="256902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chemeClr val="accent5"/>
                </a:solidFill>
              </a:rPr>
              <a:t>Next step: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5"/>
                </a:solidFill>
              </a:rPr>
              <a:t>Model evaluation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5"/>
                </a:solidFill>
              </a:rPr>
              <a:t>Testing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5"/>
                </a:solidFill>
              </a:rPr>
              <a:t>Docker validation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5"/>
                </a:solidFill>
              </a:rPr>
              <a:t>Final documentation</a:t>
            </a:r>
            <a:endParaRPr lang="en-IN" sz="28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588</Words>
  <Application>Microsoft Office PowerPoint</Application>
  <PresentationFormat>Widescreen</PresentationFormat>
  <Paragraphs>111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Premkumar Sivasankar</cp:lastModifiedBy>
  <cp:revision>22</cp:revision>
  <dcterms:created xsi:type="dcterms:W3CDTF">2024-05-13T10:33:11Z</dcterms:created>
  <dcterms:modified xsi:type="dcterms:W3CDTF">2026-10-01T04:43:29Z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